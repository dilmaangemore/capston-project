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68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84" d="100"/>
          <a:sy n="84" d="100"/>
        </p:scale>
        <p:origin x="76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800" b="0" i="0" u="none" strike="noStrike">
                <a:solidFill>
                  <a:srgbClr val="000000"/>
                </a:solidFill>
                <a:latin typeface="Arial"/>
              </a:rPr>
              <a:t>Total Transactions by Payment Method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Payment Method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E86C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DFB5-4D69-9117-315AFE888075}"/>
              </c:ext>
            </c:extLst>
          </c:dPt>
          <c:dPt>
            <c:idx val="1"/>
            <c:bubble3D val="0"/>
            <c:spPr>
              <a:solidFill>
                <a:srgbClr val="1ABC9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FB5-4D69-9117-315AFE888075}"/>
              </c:ext>
            </c:extLst>
          </c:dPt>
          <c:dPt>
            <c:idx val="2"/>
            <c:bubble3D val="0"/>
            <c:spPr>
              <a:solidFill>
                <a:srgbClr val="F39C1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DFB5-4D69-9117-315AFE888075}"/>
              </c:ext>
            </c:extLst>
          </c:dPt>
          <c:dPt>
            <c:idx val="3"/>
            <c:bubble3D val="0"/>
            <c:spPr>
              <a:solidFill>
                <a:srgbClr val="27AE6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DFB5-4D69-9117-315AFE888075}"/>
              </c:ext>
            </c:extLst>
          </c:dPt>
          <c:dPt>
            <c:idx val="4"/>
            <c:bubble3D val="0"/>
            <c:spPr>
              <a:solidFill>
                <a:srgbClr val="E74C3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DFB5-4D69-9117-315AFE888075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DFB5-4D69-9117-315AFE888075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DFB5-4D69-9117-315AFE888075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DFB5-4D69-9117-315AFE888075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DFB5-4D69-9117-315AFE888075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DFB5-4D69-9117-315AFE888075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Unknown</c:v>
                </c:pt>
                <c:pt idx="1">
                  <c:v>UPI</c:v>
                </c:pt>
                <c:pt idx="2">
                  <c:v>Net Banking</c:v>
                </c:pt>
                <c:pt idx="3">
                  <c:v>Card</c:v>
                </c:pt>
                <c:pt idx="4">
                  <c:v>Wallet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17125</c:v>
                </c:pt>
                <c:pt idx="1">
                  <c:v>8651</c:v>
                </c:pt>
                <c:pt idx="2">
                  <c:v>8589</c:v>
                </c:pt>
                <c:pt idx="3">
                  <c:v>8579</c:v>
                </c:pt>
                <c:pt idx="4">
                  <c:v>8556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DFB5-4D69-9117-315AFE8880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800" b="0" i="0" u="none" strike="noStrike">
                <a:solidFill>
                  <a:srgbClr val="000000"/>
                </a:solidFill>
                <a:latin typeface="Arial"/>
              </a:rPr>
              <a:t>Sum of Amount by Merchant Category (₹M)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Amount (M)</c:v>
                </c:pt>
              </c:strCache>
            </c:strRef>
          </c:tx>
          <c:spPr>
            <a:solidFill>
              <a:srgbClr val="1A3C6E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A3C6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Travel</c:v>
                </c:pt>
                <c:pt idx="1">
                  <c:v>Food</c:v>
                </c:pt>
                <c:pt idx="2">
                  <c:v>Unknown</c:v>
                </c:pt>
                <c:pt idx="3">
                  <c:v>Healthcare</c:v>
                </c:pt>
                <c:pt idx="4">
                  <c:v>Electronics</c:v>
                </c:pt>
                <c:pt idx="5">
                  <c:v>Retail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247.8</c:v>
                </c:pt>
                <c:pt idx="1">
                  <c:v>241.4</c:v>
                </c:pt>
                <c:pt idx="2">
                  <c:v>239.1</c:v>
                </c:pt>
                <c:pt idx="3">
                  <c:v>239.06</c:v>
                </c:pt>
                <c:pt idx="4">
                  <c:v>235.56</c:v>
                </c:pt>
                <c:pt idx="5">
                  <c:v>231.79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DD4-4707-9A45-AC76D676ED7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C3E5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AED6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C3E5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03630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A70BFE-560C-C95D-C31E-7097DB1AB5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3AAF24-85C2-295F-53BC-1537B310A9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51A2DB-537A-D289-8D60-6CA911F0F7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1618C4-9644-3827-88C4-6C289909C5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94007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C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120640" cy="5143500"/>
          </a:xfrm>
          <a:prstGeom prst="rect">
            <a:avLst/>
          </a:prstGeom>
          <a:solidFill>
            <a:srgbClr val="213E7A"/>
          </a:solidFill>
          <a:ln w="12700">
            <a:solidFill>
              <a:srgbClr val="213E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5120640" y="0"/>
            <a:ext cx="64008" cy="514350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FD9DDF0-EB5D-8BC0-D77C-B9996CE31EA3}"/>
              </a:ext>
            </a:extLst>
          </p:cNvPr>
          <p:cNvGrpSpPr/>
          <p:nvPr/>
        </p:nvGrpSpPr>
        <p:grpSpPr>
          <a:xfrm>
            <a:off x="457200" y="1410462"/>
            <a:ext cx="4389120" cy="2322576"/>
            <a:chOff x="457200" y="914400"/>
            <a:chExt cx="4389120" cy="2322576"/>
          </a:xfrm>
        </p:grpSpPr>
        <p:sp>
          <p:nvSpPr>
            <p:cNvPr id="4" name="Text 2"/>
            <p:cNvSpPr/>
            <p:nvPr/>
          </p:nvSpPr>
          <p:spPr>
            <a:xfrm>
              <a:off x="457200" y="914400"/>
              <a:ext cx="438912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kern="0" spc="400" dirty="0">
                  <a:solidFill>
                    <a:srgbClr val="1ABC9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CAPSTONE PROJECT</a:t>
              </a:r>
              <a:endParaRPr lang="en-US" sz="1100" dirty="0"/>
            </a:p>
          </p:txBody>
        </p:sp>
        <p:sp>
          <p:nvSpPr>
            <p:cNvPr id="5" name="Text 3"/>
            <p:cNvSpPr/>
            <p:nvPr/>
          </p:nvSpPr>
          <p:spPr>
            <a:xfrm>
              <a:off x="457200" y="1371600"/>
              <a:ext cx="4389120" cy="1280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34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Fintech Transaction</a:t>
              </a:r>
              <a:endParaRPr lang="en-US" sz="3400" dirty="0"/>
            </a:p>
            <a:p>
              <a:pPr marL="0" indent="0">
                <a:buNone/>
              </a:pPr>
              <a:r>
                <a:rPr lang="en-US" sz="34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Analytics</a:t>
              </a:r>
              <a:endParaRPr lang="en-US" sz="3400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457200" y="2788920"/>
              <a:ext cx="438912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AED6F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Comprehensive Data Analysis  |  SQL · Power BI · Excel</a:t>
              </a:r>
              <a:endParaRPr lang="en-US" sz="1000" dirty="0"/>
            </a:p>
          </p:txBody>
        </p:sp>
        <p:sp>
          <p:nvSpPr>
            <p:cNvPr id="7" name="Shape 5"/>
            <p:cNvSpPr/>
            <p:nvPr/>
          </p:nvSpPr>
          <p:spPr>
            <a:xfrm>
              <a:off x="457200" y="3200400"/>
              <a:ext cx="2011680" cy="36576"/>
            </a:xfrm>
            <a:prstGeom prst="rect">
              <a:avLst/>
            </a:prstGeom>
            <a:solidFill>
              <a:srgbClr val="1ABC9C"/>
            </a:solidFill>
            <a:ln w="12700">
              <a:solidFill>
                <a:srgbClr val="1ABC9C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1" name="Shape 9"/>
          <p:cNvSpPr/>
          <p:nvPr/>
        </p:nvSpPr>
        <p:spPr>
          <a:xfrm>
            <a:off x="5394960" y="685800"/>
            <a:ext cx="33832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AED6F1"/>
            </a:solidFill>
            <a:prstDash val="solid"/>
          </a:ln>
          <a:effectLst>
            <a:outerShdw blurRad="76200" dist="25400" dir="8100000" algn="bl" rotWithShape="0">
              <a:srgbClr val="2C3E5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5394960" y="685800"/>
            <a:ext cx="3383280" cy="64008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440680" y="795528"/>
            <a:ext cx="329184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52K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5440680" y="1399032"/>
            <a:ext cx="329184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Transactions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394960" y="2103120"/>
            <a:ext cx="33832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AED6F1"/>
            </a:solidFill>
            <a:prstDash val="solid"/>
          </a:ln>
          <a:effectLst>
            <a:outerShdw blurRad="76200" dist="25400" dir="8100000" algn="bl" rotWithShape="0">
              <a:srgbClr val="2C3E5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5394960" y="2103120"/>
            <a:ext cx="3383280" cy="64008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5440680" y="2212848"/>
            <a:ext cx="329184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1.43bn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5440680" y="2816352"/>
            <a:ext cx="329184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Transaction Value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394960" y="3520440"/>
            <a:ext cx="33832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AED6F1"/>
            </a:solidFill>
            <a:prstDash val="solid"/>
          </a:ln>
          <a:effectLst>
            <a:outerShdw blurRad="76200" dist="25400" dir="8100000" algn="bl" rotWithShape="0">
              <a:srgbClr val="2C3E5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5394960" y="3520440"/>
            <a:ext cx="3383280" cy="6400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5440680" y="3630168"/>
            <a:ext cx="329184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4.95%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5440680" y="4233672"/>
            <a:ext cx="329184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Fraud Rate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3C6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8CA2DF-6A68-F28D-22F2-D4849E84CF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C269307-91CA-6632-F662-EF7B0D986949}"/>
              </a:ext>
            </a:extLst>
          </p:cNvPr>
          <p:cNvSpPr/>
          <p:nvPr/>
        </p:nvSpPr>
        <p:spPr>
          <a:xfrm>
            <a:off x="289655" y="255578"/>
            <a:ext cx="5120640" cy="897361"/>
          </a:xfrm>
          <a:prstGeom prst="rect">
            <a:avLst/>
          </a:prstGeom>
          <a:solidFill>
            <a:srgbClr val="213E7A"/>
          </a:solidFill>
          <a:ln w="12700">
            <a:solidFill>
              <a:srgbClr val="213E7A"/>
            </a:solidFill>
            <a:prstDash val="solid"/>
          </a:ln>
        </p:spPr>
        <p:txBody>
          <a:bodyPr/>
          <a:lstStyle/>
          <a:p>
            <a:r>
              <a:rPr lang="en-US" sz="2800" b="1" dirty="0">
                <a:solidFill>
                  <a:schemeClr val="bg1"/>
                </a:solidFill>
              </a:rPr>
              <a:t>TEAM DETAILS</a:t>
            </a:r>
          </a:p>
          <a:p>
            <a:r>
              <a:rPr lang="en-US" b="1" dirty="0">
                <a:solidFill>
                  <a:schemeClr val="bg1"/>
                </a:solidFill>
              </a:rPr>
              <a:t>BATCH 5</a:t>
            </a:r>
            <a:endParaRPr lang="en-IN" b="1" dirty="0">
              <a:solidFill>
                <a:schemeClr val="bg1"/>
              </a:solidFill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4FCA8129-B3A8-9DB1-5E93-D2EEDC9E7D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877869"/>
              </p:ext>
            </p:extLst>
          </p:nvPr>
        </p:nvGraphicFramePr>
        <p:xfrm>
          <a:off x="336984" y="1403035"/>
          <a:ext cx="6096000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1116152441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15667715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ENROLLMENT NO.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0043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Diya Jalandhra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2506172250002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68062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 Vishnu Pratap Singh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2506142270025</a:t>
                      </a: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42004575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 Vanshika Chauhan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2506142270009</a:t>
                      </a: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352484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 Thapar Harman Jeetendra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2506172000397</a:t>
                      </a: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37745642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 Nikhil Kumar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2506142000606</a:t>
                      </a: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981217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 Ankita Verma</a:t>
                      </a:r>
                      <a:endParaRPr lang="en-IN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2506142270006</a:t>
                      </a:r>
                      <a:endParaRPr lang="en-IN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36532884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206104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841248"/>
            <a:ext cx="9144000" cy="54864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45720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of the Project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365760" y="612648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 &amp; Analytical Goals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859536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AED6F1"/>
            </a:solidFill>
            <a:prstDash val="solid"/>
          </a:ln>
          <a:effectLst>
            <a:outerShdw blurRad="76200" dist="25400" dir="8100000" algn="bl" rotWithShape="0">
              <a:srgbClr val="2C3E5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274320" y="1005840"/>
            <a:ext cx="347472" cy="667512"/>
          </a:xfrm>
          <a:prstGeom prst="rect">
            <a:avLst/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274320" y="1005840"/>
            <a:ext cx="34747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68096" y="107899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127248" y="1170432"/>
            <a:ext cx="0" cy="320040"/>
          </a:xfrm>
          <a:prstGeom prst="line">
            <a:avLst/>
          </a:prstGeom>
          <a:noFill/>
          <a:ln w="1270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273552" y="1097280"/>
            <a:ext cx="53949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and quantify fraudulent transactions across merchant categories, regions, and account types to support proactive risk management.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1764792"/>
            <a:ext cx="859536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AED6F1"/>
            </a:solidFill>
            <a:prstDash val="solid"/>
          </a:ln>
          <a:effectLst>
            <a:outerShdw blurRad="76200" dist="25400" dir="8100000" algn="bl" rotWithShape="0">
              <a:srgbClr val="2C3E5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274320" y="1764792"/>
            <a:ext cx="347472" cy="667512"/>
          </a:xfrm>
          <a:prstGeom prst="rect">
            <a:avLst/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274320" y="1764792"/>
            <a:ext cx="34747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68096" y="183794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Performance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127248" y="1929384"/>
            <a:ext cx="0" cy="320040"/>
          </a:xfrm>
          <a:prstGeom prst="line">
            <a:avLst/>
          </a:prstGeom>
          <a:noFill/>
          <a:ln w="1270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3273552" y="1856232"/>
            <a:ext cx="53949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success vs. failure rates by payment method, device type, and region to pinpoint friction points in the payment pipeline.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2523744"/>
            <a:ext cx="859536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AED6F1"/>
            </a:solidFill>
            <a:prstDash val="solid"/>
          </a:ln>
          <a:effectLst>
            <a:outerShdw blurRad="76200" dist="25400" dir="8100000" algn="bl" rotWithShape="0">
              <a:srgbClr val="2C3E5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274320" y="2523744"/>
            <a:ext cx="347472" cy="667512"/>
          </a:xfrm>
          <a:prstGeom prst="rect">
            <a:avLst/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274320" y="2523744"/>
            <a:ext cx="34747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68096" y="259689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&amp; Fee Optimization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127248" y="2688336"/>
            <a:ext cx="0" cy="320040"/>
          </a:xfrm>
          <a:prstGeom prst="line">
            <a:avLst/>
          </a:prstGeom>
          <a:noFill/>
          <a:ln w="1270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3273552" y="2615184"/>
            <a:ext cx="53949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processing fee structures across currencies (USD, EUR, INR) and account types to identify cost-efficiency opportunities.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3282696"/>
            <a:ext cx="859536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AED6F1"/>
            </a:solidFill>
            <a:prstDash val="solid"/>
          </a:ln>
          <a:effectLst>
            <a:outerShdw blurRad="76200" dist="25400" dir="8100000" algn="bl" rotWithShape="0">
              <a:srgbClr val="2C3E5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274320" y="3282696"/>
            <a:ext cx="347472" cy="667512"/>
          </a:xfrm>
          <a:prstGeom prst="rect">
            <a:avLst/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274320" y="3282696"/>
            <a:ext cx="34747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68096" y="335584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Behaviour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127248" y="3447288"/>
            <a:ext cx="0" cy="320040"/>
          </a:xfrm>
          <a:prstGeom prst="line">
            <a:avLst/>
          </a:prstGeom>
          <a:noFill/>
          <a:ln w="1270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3273552" y="3374136"/>
            <a:ext cx="53949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high-value and high-frequency customers to enable targeted retention and upsell strategies.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74320" y="4041648"/>
            <a:ext cx="859536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AED6F1"/>
            </a:solidFill>
            <a:prstDash val="solid"/>
          </a:ln>
          <a:effectLst>
            <a:outerShdw blurRad="76200" dist="25400" dir="8100000" algn="bl" rotWithShape="0">
              <a:srgbClr val="2C3E5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274320" y="4041648"/>
            <a:ext cx="347472" cy="667512"/>
          </a:xfrm>
          <a:prstGeom prst="rect">
            <a:avLst/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274320" y="4041648"/>
            <a:ext cx="34747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68096" y="41148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Insights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127248" y="4206240"/>
            <a:ext cx="0" cy="320040"/>
          </a:xfrm>
          <a:prstGeom prst="line">
            <a:avLst/>
          </a:prstGeom>
          <a:noFill/>
          <a:ln w="1270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3273552" y="4133088"/>
            <a:ext cx="53949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regional and channel-level patterns to guide resource allocation and infrastructure investment decisions.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841248"/>
            <a:ext cx="9144000" cy="54864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45720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365760" y="612648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Source, Structure &amp; Scope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74320" y="987552"/>
            <a:ext cx="201168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AED6F1"/>
            </a:solidFill>
            <a:prstDash val="solid"/>
          </a:ln>
          <a:effectLst>
            <a:outerShdw blurRad="76200" dist="25400" dir="8100000" algn="bl" rotWithShape="0">
              <a:srgbClr val="2C3E5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274320" y="987552"/>
            <a:ext cx="2011680" cy="54864"/>
          </a:xfrm>
          <a:prstGeom prst="rect">
            <a:avLst/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65760" y="10515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3C6E"/>
                </a:solidFill>
              </a:rPr>
              <a:t>SOURCE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12801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86C1"/>
                </a:solidFill>
              </a:rPr>
              <a:t>Simulated Fintech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2E86C1"/>
                </a:solidFill>
              </a:rPr>
              <a:t>Transaction Dataset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450592" y="987552"/>
            <a:ext cx="201168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AED6F1"/>
            </a:solidFill>
            <a:prstDash val="solid"/>
          </a:ln>
          <a:effectLst>
            <a:outerShdw blurRad="76200" dist="25400" dir="8100000" algn="bl" rotWithShape="0">
              <a:srgbClr val="2C3E5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2450592" y="987552"/>
            <a:ext cx="2011680" cy="54864"/>
          </a:xfrm>
          <a:prstGeom prst="rect">
            <a:avLst/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2542032" y="10515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3C6E"/>
                </a:solidFill>
              </a:rPr>
              <a:t>SIZE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542032" y="12801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86C1"/>
                </a:solidFill>
              </a:rPr>
              <a:t>51,500 Rows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2E86C1"/>
                </a:solidFill>
              </a:rPr>
              <a:t>17 Columns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26864" y="987552"/>
            <a:ext cx="201168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AED6F1"/>
            </a:solidFill>
            <a:prstDash val="solid"/>
          </a:ln>
          <a:effectLst>
            <a:outerShdw blurRad="76200" dist="25400" dir="8100000" algn="bl" rotWithShape="0">
              <a:srgbClr val="2C3E5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4626864" y="987552"/>
            <a:ext cx="2011680" cy="54864"/>
          </a:xfrm>
          <a:prstGeom prst="rect">
            <a:avLst/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718304" y="10515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3C6E"/>
                </a:solidFill>
              </a:rPr>
              <a:t>PERIOD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718304" y="12801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86C1"/>
                </a:solidFill>
              </a:rPr>
              <a:t>2023 – 2027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2E86C1"/>
                </a:solidFill>
              </a:rPr>
              <a:t>(Multi-year)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803136" y="987552"/>
            <a:ext cx="201168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AED6F1"/>
            </a:solidFill>
            <a:prstDash val="solid"/>
          </a:ln>
          <a:effectLst>
            <a:outerShdw blurRad="76200" dist="25400" dir="8100000" algn="bl" rotWithShape="0">
              <a:srgbClr val="2C3E5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6803136" y="987552"/>
            <a:ext cx="2011680" cy="54864"/>
          </a:xfrm>
          <a:prstGeom prst="rect">
            <a:avLst/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894576" y="10515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3C6E"/>
                </a:solidFill>
              </a:rPr>
              <a:t>FORMAT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894576" y="12801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86C1"/>
                </a:solidFill>
              </a:rPr>
              <a:t>CSV / Excel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2E86C1"/>
                </a:solidFill>
              </a:rPr>
              <a:t>Cleaned Data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74320" y="2304288"/>
            <a:ext cx="54864" cy="256032"/>
          </a:xfrm>
          <a:prstGeom prst="rect">
            <a:avLst/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02336" y="230428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Variables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274320" y="2633472"/>
            <a:ext cx="4251960" cy="2066544"/>
          </a:xfrm>
          <a:prstGeom prst="rect">
            <a:avLst/>
          </a:prstGeom>
          <a:solidFill>
            <a:srgbClr val="FFFFFF"/>
          </a:solidFill>
          <a:ln w="12700">
            <a:solidFill>
              <a:srgbClr val="AED6F1"/>
            </a:solidFill>
            <a:prstDash val="solid"/>
          </a:ln>
          <a:effectLst>
            <a:outerShdw blurRad="76200" dist="25400" dir="8100000" algn="bl" rotWithShape="0">
              <a:srgbClr val="2C3E5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384048" y="267919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Transaction_ID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993392" y="267919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identifier per transaction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84048" y="2971800"/>
            <a:ext cx="4023360" cy="0"/>
          </a:xfrm>
          <a:prstGeom prst="line">
            <a:avLst/>
          </a:prstGeom>
          <a:noFill/>
          <a:ln w="508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384048" y="30083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Customer_ID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993392" y="300837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reference number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84048" y="3300984"/>
            <a:ext cx="4023360" cy="0"/>
          </a:xfrm>
          <a:prstGeom prst="line">
            <a:avLst/>
          </a:prstGeom>
          <a:noFill/>
          <a:ln w="508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384048" y="33375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993392" y="333756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value (0.36 – 59,999.63)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84048" y="3630168"/>
            <a:ext cx="4023360" cy="0"/>
          </a:xfrm>
          <a:prstGeom prst="line">
            <a:avLst/>
          </a:prstGeom>
          <a:noFill/>
          <a:ln w="508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384048" y="366674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Account_Type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993392" y="3666744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/ Savings / Credit / Unknown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84048" y="3959352"/>
            <a:ext cx="4023360" cy="0"/>
          </a:xfrm>
          <a:prstGeom prst="line">
            <a:avLst/>
          </a:prstGeom>
          <a:noFill/>
          <a:ln w="508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384048" y="399592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Transaction_Status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993392" y="399592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/ Failed / Pending / Unknown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84048" y="4288536"/>
            <a:ext cx="4023360" cy="0"/>
          </a:xfrm>
          <a:prstGeom prst="line">
            <a:avLst/>
          </a:prstGeom>
          <a:noFill/>
          <a:ln w="508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384048" y="432511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Is_Fraud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993392" y="432511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fraud flag (0 = clean, 1 = fraud)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709160" y="2633472"/>
            <a:ext cx="4251960" cy="2066544"/>
          </a:xfrm>
          <a:prstGeom prst="rect">
            <a:avLst/>
          </a:prstGeom>
          <a:solidFill>
            <a:srgbClr val="FFFFFF"/>
          </a:solidFill>
          <a:ln w="12700">
            <a:solidFill>
              <a:srgbClr val="AED6F1"/>
            </a:solidFill>
            <a:prstDash val="solid"/>
          </a:ln>
          <a:effectLst>
            <a:outerShdw blurRad="76200" dist="25400" dir="8100000" algn="bl" rotWithShape="0">
              <a:srgbClr val="2C3E5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4818888" y="267919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Merchant_Category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428232" y="267919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/ Food / Healthcare / Electronics / Retail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818888" y="2971800"/>
            <a:ext cx="4023360" cy="0"/>
          </a:xfrm>
          <a:prstGeom prst="line">
            <a:avLst/>
          </a:prstGeom>
          <a:noFill/>
          <a:ln w="508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4818888" y="30083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428232" y="300837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 / West / North / South / Central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818888" y="3300984"/>
            <a:ext cx="4023360" cy="0"/>
          </a:xfrm>
          <a:prstGeom prst="line">
            <a:avLst/>
          </a:prstGeom>
          <a:noFill/>
          <a:ln w="508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4818888" y="33375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Currency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428232" y="333756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/ EUR / INR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818888" y="3630168"/>
            <a:ext cx="4023360" cy="0"/>
          </a:xfrm>
          <a:prstGeom prst="line">
            <a:avLst/>
          </a:prstGeom>
          <a:noFill/>
          <a:ln w="508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4818888" y="366674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Device_Type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6428232" y="3666744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/ Desktop / Tablet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4818888" y="3959352"/>
            <a:ext cx="4023360" cy="0"/>
          </a:xfrm>
          <a:prstGeom prst="line">
            <a:avLst/>
          </a:prstGeom>
          <a:noFill/>
          <a:ln w="508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Text 53"/>
          <p:cNvSpPr/>
          <p:nvPr/>
        </p:nvSpPr>
        <p:spPr>
          <a:xfrm>
            <a:off x="4818888" y="399592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Processing_Fee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6428232" y="399592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 charged per transaction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4818888" y="4288536"/>
            <a:ext cx="4023360" cy="0"/>
          </a:xfrm>
          <a:prstGeom prst="line">
            <a:avLst/>
          </a:prstGeom>
          <a:noFill/>
          <a:ln w="508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Text 56"/>
          <p:cNvSpPr/>
          <p:nvPr/>
        </p:nvSpPr>
        <p:spPr>
          <a:xfrm>
            <a:off x="4818888" y="432511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Payment_Method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6428232" y="432511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/ UPI / Wallet / Net Banking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841248"/>
            <a:ext cx="9144000" cy="54864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45720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&amp; Preparation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365760" y="612648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Performed in Excel &amp; SQL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4251960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AED6F1"/>
            </a:solidFill>
            <a:prstDash val="solid"/>
          </a:ln>
          <a:effectLst>
            <a:outerShdw blurRad="76200" dist="25400" dir="8100000" algn="bl" rotWithShape="0">
              <a:srgbClr val="2C3E5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274320" y="1005840"/>
            <a:ext cx="475488" cy="1810512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274320" y="1700784"/>
            <a:ext cx="475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50392" y="1097280"/>
            <a:ext cx="3547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 Handling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50392" y="1408176"/>
            <a:ext cx="3474720" cy="0"/>
          </a:xfrm>
          <a:prstGeom prst="line">
            <a:avLst/>
          </a:prstGeom>
          <a:noFill/>
          <a:ln w="635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850392" y="1463040"/>
            <a:ext cx="3547872" cy="1261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'Unknown' values in Account_Type, Region, Device_Type, </a:t>
            </a:r>
            <a:r>
              <a:rPr lang="en-US" sz="1000" dirty="0" err="1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Payment_Method</a:t>
            </a: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retained as a category (not imputed) to avoid analytical bias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~25% of rows contained at least one Unknown field across key dimensions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Allowed Unknown to participate in aggregations to ensure completeness of counts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1005840"/>
            <a:ext cx="4251960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AED6F1"/>
            </a:solidFill>
            <a:prstDash val="solid"/>
          </a:ln>
          <a:effectLst>
            <a:outerShdw blurRad="76200" dist="25400" dir="8100000" algn="bl" rotWithShape="0">
              <a:srgbClr val="2C3E5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754880" y="1005840"/>
            <a:ext cx="475488" cy="1810512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754880" y="1700784"/>
            <a:ext cx="475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330952" y="1097280"/>
            <a:ext cx="3547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&amp; Integrity Check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330952" y="1408176"/>
            <a:ext cx="3474720" cy="0"/>
          </a:xfrm>
          <a:prstGeom prst="line">
            <a:avLst/>
          </a:prstGeom>
          <a:noFill/>
          <a:ln w="635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5330952" y="1463040"/>
            <a:ext cx="3547872" cy="1261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uniqueness of Transaction_ID across all 51,500 rows - zero duplicates found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Customer_ID duplicates expected and valid (one customer → multiple transactions)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Is_Fraud confirmed as strict binary (0/1) - no nulls or mixed types detected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2944368"/>
            <a:ext cx="4251960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AED6F1"/>
            </a:solidFill>
            <a:prstDash val="solid"/>
          </a:ln>
          <a:effectLst>
            <a:outerShdw blurRad="76200" dist="25400" dir="8100000" algn="bl" rotWithShape="0">
              <a:srgbClr val="2C3E5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274320" y="2944368"/>
            <a:ext cx="475488" cy="181051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274320" y="3639312"/>
            <a:ext cx="475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50392" y="3035808"/>
            <a:ext cx="3547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 &amp; Format Validation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50392" y="3346704"/>
            <a:ext cx="3474720" cy="0"/>
          </a:xfrm>
          <a:prstGeom prst="line">
            <a:avLst/>
          </a:prstGeom>
          <a:noFill/>
          <a:ln w="635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850392" y="3401568"/>
            <a:ext cx="3547872" cy="1261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Transaction_Date parsed to proper date format (DD-MM-YYYY) for time-series analysis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 and Processing_Fee confirmed as numeric - no corrupted text values found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Currency codes standardised: USD, EUR, INR only - no rogue entries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2944368"/>
            <a:ext cx="4251960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AED6F1"/>
            </a:solidFill>
            <a:prstDash val="solid"/>
          </a:ln>
          <a:effectLst>
            <a:outerShdw blurRad="76200" dist="25400" dir="8100000" algn="bl" rotWithShape="0">
              <a:srgbClr val="2C3E5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4754880" y="2944368"/>
            <a:ext cx="475488" cy="181051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4754880" y="3639312"/>
            <a:ext cx="475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330952" y="3035808"/>
            <a:ext cx="3547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&amp; Normalised Columns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330952" y="3346704"/>
            <a:ext cx="3474720" cy="0"/>
          </a:xfrm>
          <a:prstGeom prst="line">
            <a:avLst/>
          </a:prstGeom>
          <a:noFill/>
          <a:ln w="635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5330952" y="3401568"/>
            <a:ext cx="3547872" cy="1261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column extracted from Transaction_Date to enable monthly trend analysis in Power BI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Normalised_Rate calculated as Amount × Conversion_Rate for fair cross-currency comparison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Processing_Fee ratio derived against Amount to analyse fee burden per transaction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841248"/>
            <a:ext cx="9144000" cy="54864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45720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Analysis - Insights &amp; Results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365760" y="612648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Data-Backed Findings from Each Query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42519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AED6F1"/>
            </a:solidFill>
            <a:prstDash val="solid"/>
          </a:ln>
          <a:effectLst>
            <a:outerShdw blurRad="76200" dist="25400" dir="8100000" algn="bl" rotWithShape="0">
              <a:srgbClr val="2C3E5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274320" y="1005840"/>
            <a:ext cx="64008" cy="713232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384048" y="1097280"/>
            <a:ext cx="1005840" cy="530352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84048" y="10972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₹1,83,385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84048" y="135331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Highest Customer Spend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508760" y="1097280"/>
            <a:ext cx="29077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#2180 recorded the highest total spend - 2× the dataset average - identifying a critical high-value segment for retention programs.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4320" y="1801368"/>
            <a:ext cx="42519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AED6F1"/>
            </a:solidFill>
            <a:prstDash val="solid"/>
          </a:ln>
          <a:effectLst>
            <a:outerShdw blurRad="76200" dist="25400" dir="8100000" algn="bl" rotWithShape="0">
              <a:srgbClr val="2C3E5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274320" y="1801368"/>
            <a:ext cx="64008" cy="71323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384048" y="1892808"/>
            <a:ext cx="1005840" cy="53035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84048" y="189280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12,837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84048" y="21488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Failed Transactions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1508760" y="1892808"/>
            <a:ext cx="29077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24.9% of all transactions failed - the highest single-status failure rate. Payment gateway reliability is the #1 operational risk.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4320" y="2596896"/>
            <a:ext cx="42519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AED6F1"/>
            </a:solidFill>
            <a:prstDash val="solid"/>
          </a:ln>
          <a:effectLst>
            <a:outerShdw blurRad="76200" dist="25400" dir="8100000" algn="bl" rotWithShape="0">
              <a:srgbClr val="2C3E5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274320" y="2596896"/>
            <a:ext cx="64008" cy="713232"/>
          </a:xfrm>
          <a:prstGeom prst="rect">
            <a:avLst/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384048" y="2688336"/>
            <a:ext cx="1005840" cy="530352"/>
          </a:xfrm>
          <a:prstGeom prst="rect">
            <a:avLst/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384048" y="268833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₹59,989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84048" y="294436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Top Transaction Value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1508760" y="2688336"/>
            <a:ext cx="29077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amounts cluster near the ₹59,989 ceiling - confirming a high-ticket transaction segment that drives outsized revenue per event.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74320" y="3392424"/>
            <a:ext cx="42519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AED6F1"/>
            </a:solidFill>
            <a:prstDash val="solid"/>
          </a:ln>
          <a:effectLst>
            <a:outerShdw blurRad="76200" dist="25400" dir="8100000" algn="bl" rotWithShape="0">
              <a:srgbClr val="2C3E5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274320" y="3392424"/>
            <a:ext cx="64008" cy="713232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384048" y="3483864"/>
            <a:ext cx="1005840" cy="530352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384048" y="348386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~₹27,500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84048" y="373989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Avg Spend (All Accts)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1508760" y="3483864"/>
            <a:ext cx="29077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account types (Current, Savings, Credit) show near-identical averages within ₹145 - account type does not predict spending level.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74320" y="4187952"/>
            <a:ext cx="42519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AED6F1"/>
            </a:solidFill>
            <a:prstDash val="solid"/>
          </a:ln>
          <a:effectLst>
            <a:outerShdw blurRad="76200" dist="25400" dir="8100000" algn="bl" rotWithShape="0">
              <a:srgbClr val="2C3E5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274320" y="4187952"/>
            <a:ext cx="64008" cy="71323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384048" y="4279392"/>
            <a:ext cx="1005840" cy="53035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384048" y="427939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8,842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84048" y="453542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Food + Travel Txns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1508760" y="4279392"/>
            <a:ext cx="29077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(8,722) and Travel (8,746) dominate merchant volume. Unknown category (8,610) signals a major POS data-capture gap.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754880" y="1005840"/>
            <a:ext cx="42519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AED6F1"/>
            </a:solidFill>
            <a:prstDash val="solid"/>
          </a:ln>
          <a:effectLst>
            <a:outerShdw blurRad="76200" dist="25400" dir="8100000" algn="bl" rotWithShape="0">
              <a:srgbClr val="2C3E5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4754880" y="1005840"/>
            <a:ext cx="64008" cy="71323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4864608" y="1097280"/>
            <a:ext cx="1005840" cy="53035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4864608" y="10972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₹1.48 Cr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4864608" y="135331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Total Fraud Amount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5989320" y="1097280"/>
            <a:ext cx="29077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2,548 fraudulent transactions totalled ₹1,48,10,986. Healthcare is the most affected category - requiring targeted rule-based monitoring.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754880" y="1801368"/>
            <a:ext cx="42519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AED6F1"/>
            </a:solidFill>
            <a:prstDash val="solid"/>
          </a:ln>
          <a:effectLst>
            <a:outerShdw blurRad="76200" dist="25400" dir="8100000" algn="bl" rotWithShape="0">
              <a:srgbClr val="2C3E5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3" name="Shape 41"/>
          <p:cNvSpPr/>
          <p:nvPr/>
        </p:nvSpPr>
        <p:spPr>
          <a:xfrm>
            <a:off x="4754880" y="1801368"/>
            <a:ext cx="64008" cy="713232"/>
          </a:xfrm>
          <a:prstGeom prst="rect">
            <a:avLst/>
          </a:prstGeom>
          <a:solidFill>
            <a:srgbClr val="2152A3"/>
          </a:solidFill>
          <a:ln w="12700">
            <a:solidFill>
              <a:srgbClr val="2152A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Shape 42"/>
          <p:cNvSpPr/>
          <p:nvPr/>
        </p:nvSpPr>
        <p:spPr>
          <a:xfrm>
            <a:off x="4864608" y="1892808"/>
            <a:ext cx="1005840" cy="530352"/>
          </a:xfrm>
          <a:prstGeom prst="rect">
            <a:avLst/>
          </a:prstGeom>
          <a:solidFill>
            <a:srgbClr val="2152A3"/>
          </a:solidFill>
          <a:ln w="12700">
            <a:solidFill>
              <a:srgbClr val="2152A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4864608" y="189280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Mobile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4864608" y="21488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Highest Device Volume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5989320" y="1892808"/>
            <a:ext cx="29077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transactions include negative amounts - indicating unreconciled refunds/reversals. Requires gateway-level reversal tracking.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754880" y="2596896"/>
            <a:ext cx="42519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AED6F1"/>
            </a:solidFill>
            <a:prstDash val="solid"/>
          </a:ln>
          <a:effectLst>
            <a:outerShdw blurRad="76200" dist="25400" dir="8100000" algn="bl" rotWithShape="0">
              <a:srgbClr val="2C3E5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9" name="Shape 47"/>
          <p:cNvSpPr/>
          <p:nvPr/>
        </p:nvSpPr>
        <p:spPr>
          <a:xfrm>
            <a:off x="4754880" y="2596896"/>
            <a:ext cx="64008" cy="713232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Shape 48"/>
          <p:cNvSpPr/>
          <p:nvPr/>
        </p:nvSpPr>
        <p:spPr>
          <a:xfrm>
            <a:off x="4864608" y="2688336"/>
            <a:ext cx="1005840" cy="530352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Text 49"/>
          <p:cNvSpPr/>
          <p:nvPr/>
        </p:nvSpPr>
        <p:spPr>
          <a:xfrm>
            <a:off x="4864608" y="268833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North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4864608" y="294436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Highest Fraud by Region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5989320" y="2688336"/>
            <a:ext cx="29077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region records the highest top-value transactions AND the most fraud cases (453) - a dual risk of high exposure and high fraud.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4754880" y="3392424"/>
            <a:ext cx="42519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AED6F1"/>
            </a:solidFill>
            <a:prstDash val="solid"/>
          </a:ln>
          <a:effectLst>
            <a:outerShdw blurRad="76200" dist="25400" dir="8100000" algn="bl" rotWithShape="0">
              <a:srgbClr val="2C3E5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5" name="Shape 53"/>
          <p:cNvSpPr/>
          <p:nvPr/>
        </p:nvSpPr>
        <p:spPr>
          <a:xfrm>
            <a:off x="4754880" y="3392424"/>
            <a:ext cx="64008" cy="713232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Shape 54"/>
          <p:cNvSpPr/>
          <p:nvPr/>
        </p:nvSpPr>
        <p:spPr>
          <a:xfrm>
            <a:off x="4864608" y="3483864"/>
            <a:ext cx="1005840" cy="530352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Text 55"/>
          <p:cNvSpPr/>
          <p:nvPr/>
        </p:nvSpPr>
        <p:spPr>
          <a:xfrm>
            <a:off x="4864608" y="348386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₹43.15L</a:t>
            </a:r>
            <a:endParaRPr lang="en-US" sz="1300" dirty="0"/>
          </a:p>
        </p:txBody>
      </p:sp>
      <p:sp>
        <p:nvSpPr>
          <p:cNvPr id="58" name="Text 56"/>
          <p:cNvSpPr/>
          <p:nvPr/>
        </p:nvSpPr>
        <p:spPr>
          <a:xfrm>
            <a:off x="4864608" y="373989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EUR Processing Fees (Top)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5989320" y="3483864"/>
            <a:ext cx="29077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 generates the highest fees (₹43.15L) vs USD (₹42.99L) and INR (₹42.79L). EUR fee loading is a silent margin drain.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4754880" y="4187952"/>
            <a:ext cx="42519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AED6F1"/>
            </a:solidFill>
            <a:prstDash val="solid"/>
          </a:ln>
          <a:effectLst>
            <a:outerShdw blurRad="76200" dist="25400" dir="8100000" algn="bl" rotWithShape="0">
              <a:srgbClr val="2C3E5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1" name="Shape 59"/>
          <p:cNvSpPr/>
          <p:nvPr/>
        </p:nvSpPr>
        <p:spPr>
          <a:xfrm>
            <a:off x="4754880" y="4187952"/>
            <a:ext cx="64008" cy="71323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2" name="Shape 60"/>
          <p:cNvSpPr/>
          <p:nvPr/>
        </p:nvSpPr>
        <p:spPr>
          <a:xfrm>
            <a:off x="4864608" y="4279392"/>
            <a:ext cx="1005840" cy="53035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3" name="Text 61"/>
          <p:cNvSpPr/>
          <p:nvPr/>
        </p:nvSpPr>
        <p:spPr>
          <a:xfrm>
            <a:off x="4864608" y="427939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15+</a:t>
            </a:r>
            <a:endParaRPr lang="en-US" sz="1300" dirty="0"/>
          </a:p>
        </p:txBody>
      </p:sp>
      <p:sp>
        <p:nvSpPr>
          <p:cNvPr id="64" name="Text 62"/>
          <p:cNvSpPr/>
          <p:nvPr/>
        </p:nvSpPr>
        <p:spPr>
          <a:xfrm>
            <a:off x="4864608" y="453542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High-Frequency Customers</a:t>
            </a:r>
            <a:endParaRPr lang="en-US" sz="750" dirty="0"/>
          </a:p>
        </p:txBody>
      </p:sp>
      <p:sp>
        <p:nvSpPr>
          <p:cNvPr id="65" name="Text 63"/>
          <p:cNvSpPr/>
          <p:nvPr/>
        </p:nvSpPr>
        <p:spPr>
          <a:xfrm>
            <a:off x="5989320" y="4279392"/>
            <a:ext cx="29077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#1232, #4419, and #6947 each completed 7 transactions - well above average. Prime candidates for loyalty program targeting.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841248"/>
            <a:ext cx="9144000" cy="54864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45720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365760" y="612648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Ecosystem Performance Insights</a:t>
            </a:r>
            <a:endParaRPr lang="en-US" sz="950" dirty="0"/>
          </a:p>
        </p:txBody>
      </p:sp>
      <p:pic>
        <p:nvPicPr>
          <p:cNvPr id="6" name="Image 0" descr="/mnt/user-data/uploads/1777518140891_WhatsApp_Image_2026-04-29_at_11_25_14_AM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960120"/>
            <a:ext cx="5943600" cy="3886200"/>
          </a:xfrm>
          <a:prstGeom prst="rect">
            <a:avLst/>
          </a:prstGeom>
          <a:effectLst>
            <a:outerShdw blurRad="76200" dist="25400" dir="8100000" algn="bl" rotWithShape="0">
              <a:srgbClr val="2C3E50">
                <a:alpha val="12000"/>
              </a:srgbClr>
            </a:outerShdw>
          </a:effectLst>
        </p:spPr>
      </p:pic>
      <p:sp>
        <p:nvSpPr>
          <p:cNvPr id="7" name="Shape 4"/>
          <p:cNvSpPr/>
          <p:nvPr/>
        </p:nvSpPr>
        <p:spPr>
          <a:xfrm>
            <a:off x="6400800" y="960120"/>
            <a:ext cx="25146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AED6F1"/>
            </a:solidFill>
            <a:prstDash val="solid"/>
          </a:ln>
          <a:effectLst>
            <a:outerShdw blurRad="76200" dist="25400" dir="8100000" algn="bl" rotWithShape="0">
              <a:srgbClr val="2C3E5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6400800" y="960120"/>
            <a:ext cx="64008" cy="566928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6510528" y="996696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510528" y="121615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52K txns · 1.43bn total · 3K fraud cases · 4.95% fraud rate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6400800" y="1609344"/>
            <a:ext cx="25146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AED6F1"/>
            </a:solidFill>
            <a:prstDash val="solid"/>
          </a:ln>
          <a:effectLst>
            <a:outerShdw blurRad="76200" dist="25400" dir="8100000" algn="bl" rotWithShape="0">
              <a:srgbClr val="2C3E5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6400800" y="1609344"/>
            <a:ext cx="64008" cy="566928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6510528" y="1645920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Time-Series Line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510528" y="1865376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~20M monthly volume through 2027, sharp drop in 2028 (data tail)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6400800" y="2258568"/>
            <a:ext cx="25146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AED6F1"/>
            </a:solidFill>
            <a:prstDash val="solid"/>
          </a:ln>
          <a:effectLst>
            <a:outerShdw blurRad="76200" dist="25400" dir="8100000" algn="bl" rotWithShape="0">
              <a:srgbClr val="2C3E5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3"/>
          <p:cNvSpPr/>
          <p:nvPr/>
        </p:nvSpPr>
        <p:spPr>
          <a:xfrm>
            <a:off x="6400800" y="2258568"/>
            <a:ext cx="64008" cy="56692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6510528" y="2295144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Method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6510528" y="25146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 (33.25%) dominates - UPI, Wallet, Net Banking, Card each ~16.6%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6400800" y="2907792"/>
            <a:ext cx="25146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AED6F1"/>
            </a:solidFill>
            <a:prstDash val="solid"/>
          </a:ln>
          <a:effectLst>
            <a:outerShdw blurRad="76200" dist="25400" dir="8100000" algn="bl" rotWithShape="0">
              <a:srgbClr val="2C3E5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7"/>
          <p:cNvSpPr/>
          <p:nvPr/>
        </p:nvSpPr>
        <p:spPr>
          <a:xfrm>
            <a:off x="6400800" y="2907792"/>
            <a:ext cx="64008" cy="566928"/>
          </a:xfrm>
          <a:prstGeom prst="rect">
            <a:avLst/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8"/>
          <p:cNvSpPr/>
          <p:nvPr/>
        </p:nvSpPr>
        <p:spPr>
          <a:xfrm>
            <a:off x="6510528" y="2944368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Type Bar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6510528" y="316382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 types (Savings/Unknown/Current/Credit) show equal ~0.3bn spend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6400800" y="3557016"/>
            <a:ext cx="25146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AED6F1"/>
            </a:solidFill>
            <a:prstDash val="solid"/>
          </a:ln>
          <a:effectLst>
            <a:outerShdw blurRad="76200" dist="25400" dir="8100000" algn="bl" rotWithShape="0">
              <a:srgbClr val="2C3E5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21"/>
          <p:cNvSpPr/>
          <p:nvPr/>
        </p:nvSpPr>
        <p:spPr>
          <a:xfrm>
            <a:off x="6400800" y="3557016"/>
            <a:ext cx="64008" cy="56692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2"/>
          <p:cNvSpPr/>
          <p:nvPr/>
        </p:nvSpPr>
        <p:spPr>
          <a:xfrm>
            <a:off x="6510528" y="3593592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 Bar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6510528" y="381304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(₹247.8M) &gt; Food (₹241.4M) &gt; Unknown &gt; Healthcare &gt; Electronics &gt; Retail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6400800" y="4206240"/>
            <a:ext cx="25146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AED6F1"/>
            </a:solidFill>
            <a:prstDash val="solid"/>
          </a:ln>
          <a:effectLst>
            <a:outerShdw blurRad="76200" dist="25400" dir="8100000" algn="bl" rotWithShape="0">
              <a:srgbClr val="2C3E5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Shape 25"/>
          <p:cNvSpPr/>
          <p:nvPr/>
        </p:nvSpPr>
        <p:spPr>
          <a:xfrm>
            <a:off x="6400800" y="4206240"/>
            <a:ext cx="64008" cy="56692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6"/>
          <p:cNvSpPr/>
          <p:nvPr/>
        </p:nvSpPr>
        <p:spPr>
          <a:xfrm>
            <a:off x="6510528" y="4242816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Applied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6510528" y="446227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 · Device_Type · Transaction_Type slicers enable drill-down analysis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841248"/>
            <a:ext cx="9144000" cy="54864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45720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Insights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365760" y="612648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Findings from Power BI Analysis</a:t>
            </a:r>
            <a:endParaRPr lang="en-US" sz="95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274320" y="960120"/>
          <a:ext cx="4114800" cy="2423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Chart 1"/>
          <p:cNvGraphicFramePr/>
          <p:nvPr/>
        </p:nvGraphicFramePr>
        <p:xfrm>
          <a:off x="4663440" y="960120"/>
          <a:ext cx="4206240" cy="2423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Shape 4"/>
          <p:cNvSpPr/>
          <p:nvPr/>
        </p:nvSpPr>
        <p:spPr>
          <a:xfrm>
            <a:off x="274320" y="3493008"/>
            <a:ext cx="2816352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AED6F1"/>
            </a:solidFill>
            <a:prstDash val="solid"/>
          </a:ln>
          <a:effectLst>
            <a:outerShdw blurRad="76200" dist="25400" dir="8100000" algn="bl" rotWithShape="0">
              <a:srgbClr val="2C3E5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5"/>
          <p:cNvSpPr/>
          <p:nvPr/>
        </p:nvSpPr>
        <p:spPr>
          <a:xfrm>
            <a:off x="274320" y="3493008"/>
            <a:ext cx="2816352" cy="54864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6"/>
          <p:cNvSpPr/>
          <p:nvPr/>
        </p:nvSpPr>
        <p:spPr>
          <a:xfrm>
            <a:off x="411480" y="3602736"/>
            <a:ext cx="25420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33.25% of transactions have Unknown payment method - over 17K records with no payment attribution, the single largest data gap in the dataset.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3246120" y="3493008"/>
            <a:ext cx="2816352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AED6F1"/>
            </a:solidFill>
            <a:prstDash val="solid"/>
          </a:ln>
          <a:effectLst>
            <a:outerShdw blurRad="76200" dist="25400" dir="8100000" algn="bl" rotWithShape="0">
              <a:srgbClr val="2C3E5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8"/>
          <p:cNvSpPr/>
          <p:nvPr/>
        </p:nvSpPr>
        <p:spPr>
          <a:xfrm>
            <a:off x="3246120" y="3493008"/>
            <a:ext cx="2816352" cy="54864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9"/>
          <p:cNvSpPr/>
          <p:nvPr/>
        </p:nvSpPr>
        <p:spPr>
          <a:xfrm>
            <a:off x="3383280" y="3602736"/>
            <a:ext cx="25420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Travel (₹247.8M) leads merchant revenue, outpacing Retail (₹231.79M) by ₹16M - a 6.9% differential that highlights sector concentration risk.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217920" y="3493008"/>
            <a:ext cx="2816352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AED6F1"/>
            </a:solidFill>
            <a:prstDash val="solid"/>
          </a:ln>
          <a:effectLst>
            <a:outerShdw blurRad="76200" dist="25400" dir="8100000" algn="bl" rotWithShape="0">
              <a:srgbClr val="2C3E5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1"/>
          <p:cNvSpPr/>
          <p:nvPr/>
        </p:nvSpPr>
        <p:spPr>
          <a:xfrm>
            <a:off x="6217920" y="3493008"/>
            <a:ext cx="2816352" cy="54864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2"/>
          <p:cNvSpPr/>
          <p:nvPr/>
        </p:nvSpPr>
        <p:spPr>
          <a:xfrm>
            <a:off x="6355080" y="3602736"/>
            <a:ext cx="25420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All account types generate near-equal transaction amounts (~₹0.3bn each), confirming that account-type is not a revenue differentiator for product targeting.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841248"/>
            <a:ext cx="9144000" cy="54864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45720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365760" y="612648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Data-Backed Business Findings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425196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AED6F1"/>
            </a:solidFill>
            <a:prstDash val="solid"/>
          </a:ln>
          <a:effectLst>
            <a:outerShdw blurRad="76200" dist="25400" dir="8100000" algn="bl" rotWithShape="0">
              <a:srgbClr val="2C3E5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274320" y="1005840"/>
            <a:ext cx="457200" cy="120700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274320" y="143560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41248" y="1078992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Failure Rate - Revenue at Risk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41248" y="1389888"/>
            <a:ext cx="35478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24.9% of transactions failed - nearly 1 in 4. Combined with 24.8% Unknown status, over 49% lack confirmed success. Every 1% recovery = ₹14.3M in recaptured revenue.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1005840"/>
            <a:ext cx="425196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AED6F1"/>
            </a:solidFill>
            <a:prstDash val="solid"/>
          </a:ln>
          <a:effectLst>
            <a:outerShdw blurRad="76200" dist="25400" dir="8100000" algn="bl" rotWithShape="0">
              <a:srgbClr val="2C3E5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4754880" y="1005840"/>
            <a:ext cx="457200" cy="120700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754880" y="143560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321808" y="1078992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Hotspot: Healthcare + North Region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321808" y="1389888"/>
            <a:ext cx="35478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leads fraud by category (450 cases); North leads by region (453 cases). This is a concentrated, not random, pattern - requiring geo-specific automated rules.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2331720"/>
            <a:ext cx="425196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AED6F1"/>
            </a:solidFill>
            <a:prstDash val="solid"/>
          </a:ln>
          <a:effectLst>
            <a:outerShdw blurRad="76200" dist="25400" dir="8100000" algn="bl" rotWithShape="0">
              <a:srgbClr val="2C3E5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274320" y="2331720"/>
            <a:ext cx="457200" cy="1207008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274320" y="276148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41248" y="2404872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 Generates Highest Processing Fees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41248" y="2715768"/>
            <a:ext cx="35478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EUR: ₹43.15L | USD: ₹42.99L | INR: ₹42.79L. EUR extracts the highest fee load - a hidden margin cost for businesses operating in EUR corridors.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54880" y="2331720"/>
            <a:ext cx="425196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AED6F1"/>
            </a:solidFill>
            <a:prstDash val="solid"/>
          </a:ln>
          <a:effectLst>
            <a:outerShdw blurRad="76200" dist="25400" dir="8100000" algn="bl" rotWithShape="0">
              <a:srgbClr val="2C3E5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4754880" y="2331720"/>
            <a:ext cx="457200" cy="1207008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754880" y="276148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321808" y="2404872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Type Has No Spending Predictive Power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321808" y="2715768"/>
            <a:ext cx="35478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account types average ~₹27,500 (spread: ₹145). Blanket product promotions by account type will not drive differentiated revenue. Merchant category is a better targeting lens.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74320" y="3657600"/>
            <a:ext cx="425196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AED6F1"/>
            </a:solidFill>
            <a:prstDash val="solid"/>
          </a:ln>
          <a:effectLst>
            <a:outerShdw blurRad="76200" dist="25400" dir="8100000" algn="bl" rotWithShape="0">
              <a:srgbClr val="2C3E5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274320" y="3657600"/>
            <a:ext cx="457200" cy="120700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274320" y="408736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05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41248" y="3730752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Customers Signal Loyalty Potential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41248" y="4041648"/>
            <a:ext cx="35478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15+ customers made 6–7 transactions each. Customers #1232, #4419, #6947 completed 7 each. These high-frequency users represent premium upgrade and loyalty reward targets.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54880" y="3657600"/>
            <a:ext cx="425196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AED6F1"/>
            </a:solidFill>
            <a:prstDash val="solid"/>
          </a:ln>
          <a:effectLst>
            <a:outerShdw blurRad="76200" dist="25400" dir="8100000" algn="bl" rotWithShape="0">
              <a:srgbClr val="2C3E5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4754880" y="3657600"/>
            <a:ext cx="457200" cy="1207008"/>
          </a:xfrm>
          <a:prstGeom prst="rect">
            <a:avLst/>
          </a:prstGeom>
          <a:solidFill>
            <a:srgbClr val="7F8C8D"/>
          </a:solidFill>
          <a:ln w="12700">
            <a:solidFill>
              <a:srgbClr val="7F8C8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4754880" y="408736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06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321808" y="3730752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 Data = 25% Analytical Blind Spot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321808" y="4041648"/>
            <a:ext cx="35478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33.25% Unknown Payment_Method · 25% Unknown Device_Type · 25% Unknown Account_Type. This tagging failure limits every downstream model, segment, and attribution analysis.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841248"/>
            <a:ext cx="9144000" cy="54864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45720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365760" y="612648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Analysis Reveals &amp; Business Implications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74320" y="1024128"/>
            <a:ext cx="54864" cy="256032"/>
          </a:xfrm>
          <a:prstGeom prst="rect">
            <a:avLst/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02336" y="10241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Analysis Reveals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353312"/>
            <a:ext cx="53035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AED6F1"/>
            </a:solidFill>
            <a:prstDash val="solid"/>
          </a:ln>
          <a:effectLst>
            <a:outerShdw blurRad="76200" dist="25400" dir="8100000" algn="bl" rotWithShape="0">
              <a:srgbClr val="2C3E5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57200" y="1444752"/>
            <a:ext cx="5029200" cy="3364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 processes 52K transactions worth ₹1.43bn, but only ~25% confirm as successful - a structural payment infrastructure failure, not a demand shortfall.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(4.95% rate, ₹1.48 Cr value) is geographically and categorically concentrated in Healthcare + North - enabling a targeted, not blanket, fraud response strategy.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Currency fee structures are unequal - EUR extracts the highest fees, creating hidden cost asymmetry across regions and currencies.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type is a poor predictor of spending; merchant category (Travel &gt; Food &gt; Healthcare) is a far stronger revenue signal for targeting and product design.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~25-33% Unknown rate across Device, Payment Method, and Account Type is the single most impactful data quality issue - it undermines every ML and BI model built on this data.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760720" y="1024128"/>
            <a:ext cx="54864" cy="25603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888736" y="10241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Implications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760720" y="1353312"/>
            <a:ext cx="310896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AED6F1"/>
            </a:solidFill>
            <a:prstDash val="solid"/>
          </a:ln>
          <a:effectLst>
            <a:outerShdw blurRad="76200" dist="25400" dir="8100000" algn="bl" rotWithShape="0">
              <a:srgbClr val="2C3E5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5760720" y="1353312"/>
            <a:ext cx="3108960" cy="54864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897880" y="1435608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Leakage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897880" y="1682496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 failure rate = direct revenue loss. 1% improvement → ₹14.3M recovered.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760720" y="2240280"/>
            <a:ext cx="310896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AED6F1"/>
            </a:solidFill>
            <a:prstDash val="solid"/>
          </a:ln>
          <a:effectLst>
            <a:outerShdw blurRad="76200" dist="25400" dir="8100000" algn="bl" rotWithShape="0">
              <a:srgbClr val="2C3E5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5760720" y="2240280"/>
            <a:ext cx="3108960" cy="54864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5897880" y="2322576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Cost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897880" y="2569464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₹1.48 Cr fraud requires immediate Healthcare + North geo-fencing rules.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760720" y="3127248"/>
            <a:ext cx="310896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AED6F1"/>
            </a:solidFill>
            <a:prstDash val="solid"/>
          </a:ln>
          <a:effectLst>
            <a:outerShdw blurRad="76200" dist="25400" dir="8100000" algn="bl" rotWithShape="0">
              <a:srgbClr val="2C3E5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5760720" y="3127248"/>
            <a:ext cx="3108960" cy="54864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5897880" y="3209544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 Margin Risk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897880" y="3456432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 fee loading warrants processor renegotiation or pass-through pricing.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760720" y="4014216"/>
            <a:ext cx="310896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AED6F1"/>
            </a:solidFill>
            <a:prstDash val="solid"/>
          </a:ln>
          <a:effectLst>
            <a:outerShdw blurRad="76200" dist="25400" dir="8100000" algn="bl" rotWithShape="0">
              <a:srgbClr val="2C3E5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5760720" y="4014216"/>
            <a:ext cx="3108960" cy="54864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5897880" y="4096512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ROI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897880" y="434340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Fixing the Unknown gap alone improves segmentation accuracy by ~25–30%.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841248"/>
            <a:ext cx="9144000" cy="54864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45720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365760" y="612648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Practical, Data-Driven Actions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425196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AED6F1"/>
            </a:solidFill>
            <a:prstDash val="solid"/>
          </a:ln>
          <a:effectLst>
            <a:outerShdw blurRad="76200" dist="25400" dir="8100000" algn="bl" rotWithShape="0">
              <a:srgbClr val="2C3E5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274320" y="1005840"/>
            <a:ext cx="457200" cy="120700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274320" y="13075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R1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" y="160020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</a:rPr>
              <a:t>CRITICAL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841248" y="1060704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Payment Failure Pipeline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41248" y="1353312"/>
            <a:ext cx="3547872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24.9% failure is 3–4× industry benchmark (6–8%); audit gateway retry logic immediately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real-time webhook callbacks to eliminate 24.8% 'Unknown' transaction status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 secondary payment processors for high-failure corridors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54880" y="1005840"/>
            <a:ext cx="425196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AED6F1"/>
            </a:solidFill>
            <a:prstDash val="solid"/>
          </a:ln>
          <a:effectLst>
            <a:outerShdw blurRad="76200" dist="25400" dir="8100000" algn="bl" rotWithShape="0">
              <a:srgbClr val="2C3E5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754880" y="1005840"/>
            <a:ext cx="457200" cy="120700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754880" y="13075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R2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754880" y="160020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</a:rPr>
              <a:t>HIGH</a:t>
            </a:r>
            <a:endParaRPr lang="en-US" sz="650" dirty="0"/>
          </a:p>
        </p:txBody>
      </p:sp>
      <p:sp>
        <p:nvSpPr>
          <p:cNvPr id="16" name="Text 14"/>
          <p:cNvSpPr/>
          <p:nvPr/>
        </p:nvSpPr>
        <p:spPr>
          <a:xfrm>
            <a:off x="5321808" y="1060704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Targeted Fraud Rules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321808" y="1353312"/>
            <a:ext cx="3547872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velocity: &gt;3 Healthcare transactions in &lt;1 hour from North region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amount thresholds for Mobile + Healthcare combination (highest fraud overlap)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2,548 confirmed fraud cases as ML training data for real-time scoring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4320" y="2331720"/>
            <a:ext cx="425196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AED6F1"/>
            </a:solidFill>
            <a:prstDash val="solid"/>
          </a:ln>
          <a:effectLst>
            <a:outerShdw blurRad="76200" dist="25400" dir="8100000" algn="bl" rotWithShape="0">
              <a:srgbClr val="2C3E5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274320" y="2331720"/>
            <a:ext cx="457200" cy="1207008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274320" y="26334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R3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74320" y="292608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</a:rPr>
              <a:t>HIGH</a:t>
            </a:r>
            <a:endParaRPr lang="en-US" sz="650" dirty="0"/>
          </a:p>
        </p:txBody>
      </p:sp>
      <p:sp>
        <p:nvSpPr>
          <p:cNvPr id="22" name="Text 20"/>
          <p:cNvSpPr/>
          <p:nvPr/>
        </p:nvSpPr>
        <p:spPr>
          <a:xfrm>
            <a:off x="841248" y="2386584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Data Tagging at Source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41248" y="2679192"/>
            <a:ext cx="3547872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Mandate Device_Type and Payment_Method at API level - not optional fields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Unknown Account_Type with mandatory onboarding dropdowns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 transaction batches below 90% field-completion rate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54880" y="2331720"/>
            <a:ext cx="425196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AED6F1"/>
            </a:solidFill>
            <a:prstDash val="solid"/>
          </a:ln>
          <a:effectLst>
            <a:outerShdw blurRad="76200" dist="25400" dir="8100000" algn="bl" rotWithShape="0">
              <a:srgbClr val="2C3E5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4754880" y="2331720"/>
            <a:ext cx="457200" cy="120700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4754880" y="26334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R4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754880" y="292608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</a:rPr>
              <a:t>MEDIUM</a:t>
            </a:r>
            <a:endParaRPr lang="en-US" sz="650" dirty="0"/>
          </a:p>
        </p:txBody>
      </p:sp>
      <p:sp>
        <p:nvSpPr>
          <p:cNvPr id="28" name="Text 26"/>
          <p:cNvSpPr/>
          <p:nvPr/>
        </p:nvSpPr>
        <p:spPr>
          <a:xfrm>
            <a:off x="5321808" y="2386584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Program - High-Freq Customers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321808" y="2679192"/>
            <a:ext cx="3547872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 customers with 6–7 transactions to premium tier with fee cashback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merchant category history to personalise reward offers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monthly cadence: flag customers showing frequency drop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74320" y="3657600"/>
            <a:ext cx="425196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AED6F1"/>
            </a:solidFill>
            <a:prstDash val="solid"/>
          </a:ln>
          <a:effectLst>
            <a:outerShdw blurRad="76200" dist="25400" dir="8100000" algn="bl" rotWithShape="0">
              <a:srgbClr val="2C3E5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274320" y="3657600"/>
            <a:ext cx="457200" cy="1207008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274320" y="39593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R5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274320" y="425196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</a:rPr>
              <a:t>MEDIUM</a:t>
            </a:r>
            <a:endParaRPr lang="en-US" sz="650" dirty="0"/>
          </a:p>
        </p:txBody>
      </p:sp>
      <p:sp>
        <p:nvSpPr>
          <p:cNvPr id="34" name="Text 32"/>
          <p:cNvSpPr/>
          <p:nvPr/>
        </p:nvSpPr>
        <p:spPr>
          <a:xfrm>
            <a:off x="841248" y="3712464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 Fee Renegotiation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41248" y="4005072"/>
            <a:ext cx="3547872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 fees (₹43.15L) exceed USD and INR - open processor renegotiation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impact: 5% EUR fee reduction = ~₹2.15L annual saving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 EUR surcharge pass-through for high-volume B2B clients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754880" y="3657600"/>
            <a:ext cx="425196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AED6F1"/>
            </a:solidFill>
            <a:prstDash val="solid"/>
          </a:ln>
          <a:effectLst>
            <a:outerShdw blurRad="76200" dist="25400" dir="8100000" algn="bl" rotWithShape="0">
              <a:srgbClr val="2C3E5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4754880" y="3657600"/>
            <a:ext cx="457200" cy="1207008"/>
          </a:xfrm>
          <a:prstGeom prst="rect">
            <a:avLst/>
          </a:prstGeom>
          <a:solidFill>
            <a:srgbClr val="7F8C8D"/>
          </a:solidFill>
          <a:ln w="12700">
            <a:solidFill>
              <a:srgbClr val="7F8C8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4754880" y="39593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R6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4754880" y="425196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</a:rPr>
              <a:t>LOW</a:t>
            </a:r>
            <a:endParaRPr lang="en-US" sz="650" dirty="0"/>
          </a:p>
        </p:txBody>
      </p:sp>
      <p:sp>
        <p:nvSpPr>
          <p:cNvPr id="40" name="Text 38"/>
          <p:cNvSpPr/>
          <p:nvPr/>
        </p:nvSpPr>
        <p:spPr>
          <a:xfrm>
            <a:off x="5321808" y="3712464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 Retail Merchant Acquisition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321808" y="4005072"/>
            <a:ext cx="3547872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(₹231.79M) lags Travel (₹247.8M) by ₹16M - targeted merchant campaign needed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0% processing fee for first 100 Retail transactions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Retail-Travel customer overlap for cross-sell targeting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841248"/>
            <a:ext cx="9144000" cy="54864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45720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Future Scope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365760" y="612648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Constraints &amp; Expansion Opportunities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663440" y="987552"/>
            <a:ext cx="0" cy="3977640"/>
          </a:xfrm>
          <a:prstGeom prst="line">
            <a:avLst/>
          </a:prstGeom>
          <a:noFill/>
          <a:ln w="1270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274320" y="1024128"/>
            <a:ext cx="54864" cy="25603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02336" y="10241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1371600"/>
            <a:ext cx="42519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AED6F1"/>
            </a:solidFill>
            <a:prstDash val="solid"/>
          </a:ln>
          <a:effectLst>
            <a:outerShdw blurRad="76200" dist="25400" dir="8100000" algn="bl" rotWithShape="0">
              <a:srgbClr val="2C3E5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74320" y="1371600"/>
            <a:ext cx="64008" cy="62179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38912" y="1408176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Dataset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38912" y="1664208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Synthetically generated data - findings reflect methodology, not live market dynamics. Real-world validation required.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320" y="2084832"/>
            <a:ext cx="42519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AED6F1"/>
            </a:solidFill>
            <a:prstDash val="solid"/>
          </a:ln>
          <a:effectLst>
            <a:outerShdw blurRad="76200" dist="25400" dir="8100000" algn="bl" rotWithShape="0">
              <a:srgbClr val="2C3E5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274320" y="2084832"/>
            <a:ext cx="64008" cy="62179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38912" y="2121408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Unknown Rate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38912" y="2377440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25–33% untagged records in Device_Type, Payment_Method, Account_Type. Limits segmentation accuracy and model reliability.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4320" y="2798064"/>
            <a:ext cx="42519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AED6F1"/>
            </a:solidFill>
            <a:prstDash val="solid"/>
          </a:ln>
          <a:effectLst>
            <a:outerShdw blurRad="76200" dist="25400" dir="8100000" algn="bl" rotWithShape="0">
              <a:srgbClr val="2C3E5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274320" y="2798064"/>
            <a:ext cx="64008" cy="62179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38912" y="2834640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Time-Series Depth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38912" y="3090672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Dates span 2023–2027 but monthly granularity is thin. Dense month-on-month data needed for true seasonality analysis.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74320" y="3511296"/>
            <a:ext cx="42519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AED6F1"/>
            </a:solidFill>
            <a:prstDash val="solid"/>
          </a:ln>
          <a:effectLst>
            <a:outerShdw blurRad="76200" dist="25400" dir="8100000" algn="bl" rotWithShape="0">
              <a:srgbClr val="2C3E5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274320" y="3511296"/>
            <a:ext cx="64008" cy="62179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38912" y="3547872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Demographics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38912" y="3803904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age, income, or location data - prevents behavioural segmentation and demographically-weighted fraud risk modelling.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74320" y="4224528"/>
            <a:ext cx="42519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AED6F1"/>
            </a:solidFill>
            <a:prstDash val="solid"/>
          </a:ln>
          <a:effectLst>
            <a:outerShdw blurRad="76200" dist="25400" dir="8100000" algn="bl" rotWithShape="0">
              <a:srgbClr val="2C3E5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274320" y="4224528"/>
            <a:ext cx="64008" cy="62179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438912" y="4261104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Fraud Labels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38912" y="4517136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Is_Fraud is a pre-labelled binary - not derived from pattern detection. Real fraud models require dynamic probabilistic scoring.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937760" y="1024128"/>
            <a:ext cx="54864" cy="25603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5065776" y="10241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937760" y="1371600"/>
            <a:ext cx="38862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AED6F1"/>
            </a:solidFill>
            <a:prstDash val="solid"/>
          </a:ln>
          <a:effectLst>
            <a:outerShdw blurRad="76200" dist="25400" dir="8100000" algn="bl" rotWithShape="0">
              <a:srgbClr val="2C3E5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4937760" y="1371600"/>
            <a:ext cx="64008" cy="62179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5102352" y="1408176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Fraud Detection Model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102352" y="1664208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Random Forest / XGBoost on 2,548 fraud cases for real-time probabilistic fraud scoring with risk tiers.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937760" y="2084832"/>
            <a:ext cx="38862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AED6F1"/>
            </a:solidFill>
            <a:prstDash val="solid"/>
          </a:ln>
          <a:effectLst>
            <a:outerShdw blurRad="76200" dist="25400" dir="8100000" algn="bl" rotWithShape="0">
              <a:srgbClr val="2C3E5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4937760" y="2084832"/>
            <a:ext cx="64008" cy="62179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5102352" y="2121408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Lifetime Value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102352" y="2377440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CLV model using transaction frequency, amount, and tenure to proactively identify and retain high-value customers.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937760" y="2798064"/>
            <a:ext cx="38862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AED6F1"/>
            </a:solidFill>
            <a:prstDash val="solid"/>
          </a:ln>
          <a:effectLst>
            <a:outerShdw blurRad="76200" dist="25400" dir="8100000" algn="bl" rotWithShape="0">
              <a:srgbClr val="2C3E5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4937760" y="2798064"/>
            <a:ext cx="64008" cy="62179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5102352" y="2834640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Power BI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102352" y="3090672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Power BI to live SQL / streaming source for real-time transaction monitoring and fraud alerting dashboards.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937760" y="3511296"/>
            <a:ext cx="38862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AED6F1"/>
            </a:solidFill>
            <a:prstDash val="solid"/>
          </a:ln>
          <a:effectLst>
            <a:outerShdw blurRad="76200" dist="25400" dir="8100000" algn="bl" rotWithShape="0">
              <a:srgbClr val="2C3E5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4" name="Shape 42"/>
          <p:cNvSpPr/>
          <p:nvPr/>
        </p:nvSpPr>
        <p:spPr>
          <a:xfrm>
            <a:off x="4937760" y="3511296"/>
            <a:ext cx="64008" cy="62179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5102352" y="3547872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Merchant Classification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102352" y="3803904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NLP clustering on 8,610 Unknown merchant records to auto-classify them into meaningful transaction categories.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937760" y="4224528"/>
            <a:ext cx="38862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AED6F1"/>
            </a:solidFill>
            <a:prstDash val="solid"/>
          </a:ln>
          <a:effectLst>
            <a:outerShdw blurRad="76200" dist="25400" dir="8100000" algn="bl" rotWithShape="0">
              <a:srgbClr val="2C3E5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8" name="Shape 46"/>
          <p:cNvSpPr/>
          <p:nvPr/>
        </p:nvSpPr>
        <p:spPr>
          <a:xfrm>
            <a:off x="4937760" y="4224528"/>
            <a:ext cx="64008" cy="62179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5102352" y="4261104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Prediction Engine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5102352" y="4517136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frequency drop-off patterns to predict customer churn 30–60 days ahead and trigger proactive retention offers.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3C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120640" cy="5143500"/>
          </a:xfrm>
          <a:prstGeom prst="rect">
            <a:avLst/>
          </a:prstGeom>
          <a:solidFill>
            <a:srgbClr val="213E7A"/>
          </a:solidFill>
          <a:ln w="12700">
            <a:solidFill>
              <a:srgbClr val="213E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5120640" y="0"/>
            <a:ext cx="64008" cy="514350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457200" y="2423160"/>
            <a:ext cx="2926080" cy="4572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2578608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Fintech Transaction Analytics - Capstone Project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394960" y="548640"/>
            <a:ext cx="33832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AED6F1"/>
            </a:solidFill>
            <a:prstDash val="solid"/>
          </a:ln>
          <a:effectLst>
            <a:outerShdw blurRad="76200" dist="25400" dir="8100000" algn="bl" rotWithShape="0">
              <a:srgbClr val="2C3E5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5394960" y="548640"/>
            <a:ext cx="3383280" cy="64008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440680" y="658368"/>
            <a:ext cx="32918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52K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5440680" y="1152144"/>
            <a:ext cx="32918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394960" y="1664208"/>
            <a:ext cx="33832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AED6F1"/>
            </a:solidFill>
            <a:prstDash val="solid"/>
          </a:ln>
          <a:effectLst>
            <a:outerShdw blurRad="76200" dist="25400" dir="8100000" algn="bl" rotWithShape="0">
              <a:srgbClr val="2C3E5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5394960" y="1664208"/>
            <a:ext cx="3383280" cy="64008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440680" y="1773936"/>
            <a:ext cx="32918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5440680" y="2267712"/>
            <a:ext cx="32918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Insights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394960" y="2779776"/>
            <a:ext cx="33832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AED6F1"/>
            </a:solidFill>
            <a:prstDash val="solid"/>
          </a:ln>
          <a:effectLst>
            <a:outerShdw blurRad="76200" dist="25400" dir="8100000" algn="bl" rotWithShape="0">
              <a:srgbClr val="2C3E5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5394960" y="2779776"/>
            <a:ext cx="3383280" cy="6400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5440680" y="2889504"/>
            <a:ext cx="32918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5440680" y="3383280"/>
            <a:ext cx="32918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 Visuals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394960" y="3895344"/>
            <a:ext cx="33832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AED6F1"/>
            </a:solidFill>
            <a:prstDash val="solid"/>
          </a:ln>
          <a:effectLst>
            <a:outerShdw blurRad="76200" dist="25400" dir="8100000" algn="bl" rotWithShape="0">
              <a:srgbClr val="2C3E5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5394960" y="3895344"/>
            <a:ext cx="3383280" cy="6400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5440680" y="4005072"/>
            <a:ext cx="32918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5440680" y="4498848"/>
            <a:ext cx="32918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2050</Words>
  <Application>Microsoft Office PowerPoint</Application>
  <PresentationFormat>On-screen Show (16:9)</PresentationFormat>
  <Paragraphs>284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Fintech Transaction Analytics - Capstone Project</dc:title>
  <dc:subject>PptxGenJS Presentation</dc:subject>
  <dc:creator>PptxGenJS</dc:creator>
  <cp:lastModifiedBy>Diya Jalandhra</cp:lastModifiedBy>
  <cp:revision>2</cp:revision>
  <dcterms:created xsi:type="dcterms:W3CDTF">2026-04-30T03:06:26Z</dcterms:created>
  <dcterms:modified xsi:type="dcterms:W3CDTF">2026-04-30T03:31:20Z</dcterms:modified>
</cp:coreProperties>
</file>